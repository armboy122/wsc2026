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1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A623"/>
                </a:solidFill>
                <a:latin typeface="Kanit"/>
              </a:defRPr>
            </a:pPr>
            <a:r>
              <a:t>⚡ PEA INNOVATION AWARDS 2026 — TOPIC 3: AGENTIC AI FOR CUSTOMER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0152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Kanit"/>
              </a:defRPr>
            </a:pPr>
            <a:r>
              <a:t>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1D7F5"/>
                </a:solidFill>
                <a:latin typeface="IBM Plex Sans Thai"/>
              </a:defRPr>
            </a:pPr>
            <a:r>
              <a:t>จาก "ตอบคำถาม" สู่ "ทำงานแทนลูกค้า" — Agentic AI สำหรับศูนย์บริการข้อมูลผู้ใช้ไฟฟ้า 1129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2560320" cy="2011680"/>
          </a:xfrm>
          <a:prstGeom prst="roundRect">
            <a:avLst/>
          </a:prstGeom>
          <a:solidFill>
            <a:srgbClr val="3C1C5F"/>
          </a:solidFill>
          <a:ln>
            <a:solidFill>
              <a:srgbClr val="78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F5A623"/>
                </a:solidFill>
                <a:latin typeface="Kanit"/>
              </a:defRPr>
            </a:pPr>
            <a:r>
              <a:t>🧠 สมองเดียว 3 ช่องทาง</a:t>
            </a:r>
          </a:p>
          <a:p>
            <a:pPr>
              <a:defRPr sz="1050">
                <a:solidFill>
                  <a:srgbClr val="DCD7EB"/>
                </a:solidFill>
                <a:latin typeface="IBM Plex Sans Thai"/>
              </a:defRPr>
            </a:pPr>
            <a:r>
              <a:t>Web Chat, Voice (Gemini Live) และ LINE ผ่าน Main Agent เดี่ยว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3931920"/>
            <a:ext cx="2560320" cy="2011680"/>
          </a:xfrm>
          <a:prstGeom prst="roundRect">
            <a:avLst/>
          </a:prstGeom>
          <a:solidFill>
            <a:srgbClr val="3C1C5F"/>
          </a:solidFill>
          <a:ln>
            <a:solidFill>
              <a:srgbClr val="78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F5A623"/>
                </a:solidFill>
                <a:latin typeface="Kanit"/>
              </a:defRPr>
            </a:pPr>
            <a:r>
              <a:t>🛡️ ปลอดภัยระดับโค้ด</a:t>
            </a:r>
          </a:p>
          <a:p>
            <a:pPr>
              <a:defRPr sz="1050">
                <a:solidFill>
                  <a:srgbClr val="DCD7EB"/>
                </a:solidFill>
                <a:latin typeface="IBM Plex Sans Thai"/>
              </a:defRPr>
            </a:pPr>
            <a:r>
              <a:t>State Machine บังคับ Human-in-the-Loop ยืนยันก่อนเขียนข้อมูล ปราศจาก Hallucination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2560320" cy="2011680"/>
          </a:xfrm>
          <a:prstGeom prst="roundRect">
            <a:avLst/>
          </a:prstGeom>
          <a:solidFill>
            <a:srgbClr val="3C1C5F"/>
          </a:solidFill>
          <a:ln>
            <a:solidFill>
              <a:srgbClr val="78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F5A623"/>
                </a:solidFill>
                <a:latin typeface="Kanit"/>
              </a:defRPr>
            </a:pPr>
            <a:r>
              <a:t>🔌 Plugin Architecture</a:t>
            </a:r>
          </a:p>
          <a:p>
            <a:pPr>
              <a:defRPr sz="1050">
                <a:solidFill>
                  <a:srgbClr val="DCD7EB"/>
                </a:solidFill>
                <a:latin typeface="IBM Plex Sans Thai"/>
              </a:defRPr>
            </a:pPr>
            <a:r>
              <a:t>ขยายระบบใหม่ผ่าน Declarative Manifest โดยไม่ต้องแก้โค้ดระบบหลัก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931920"/>
            <a:ext cx="2560320" cy="2011680"/>
          </a:xfrm>
          <a:prstGeom prst="roundRect">
            <a:avLst/>
          </a:prstGeom>
          <a:solidFill>
            <a:srgbClr val="3C1C5F"/>
          </a:solidFill>
          <a:ln>
            <a:solidFill>
              <a:srgbClr val="78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F5A623"/>
                </a:solidFill>
                <a:latin typeface="Kanit"/>
              </a:defRPr>
            </a:pPr>
            <a:r>
              <a:t>💰 ประหยัด 16.4 ล้าน/ปี</a:t>
            </a:r>
          </a:p>
          <a:p>
            <a:pPr>
              <a:defRPr sz="1050">
                <a:solidFill>
                  <a:srgbClr val="DCD7EB"/>
                </a:solidFill>
                <a:latin typeface="IBM Plex Sans Thai"/>
              </a:defRPr>
            </a:pPr>
            <a:r>
              <a:t>ลดต้นทุนจาก 9.2 เหลือ 3.0 บาท/สาย (~67.4%) รองรับสายพร้อมกันไม่จำกัด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B4AACD"/>
                </a:solidFill>
                <a:latin typeface="IBM Plex Sans Thai"/>
              </a:defRPr>
            </a:pPr>
            <a:r>
              <a:t>ทีมพัฒนา PEA One Agent | กุมภาพันธ์ 2569 | เวลาบรรยาย 10 นาที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0. ภาพรวมโครงการ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ภาพรวมโครงการ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02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สิ่งที่จะพูดวันนี้ (Agenda)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6 หัวข้อสำคัญในการเปลี่ยนผ่านจาก Manual Call Center สู่ Agentic AI เต็มรูปแบบ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1. ปัญหาและสาเหตุรากเหง้า (Root Causes)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(16 คะแนน): การระบุและวิเคราะห์ปัญหา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03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งานบริการลูกค้าที่ซับซ้อนขึ้น แต่ทรัพยากรคงที่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ความท้าทายจริงของศูนย์บริการข้อมูลผู้ใช้ไฟฟ้า การไฟฟ้าส่วนภูมิภาค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ความต้องการที่หลากหลาย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ผลกระทบต่อกระบวนงาน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ขีดจำกัดด้านทรัพยากร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⚠️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1. ปัญหาและสาเหตุรากเหง้า (Root Causes)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(16 คะแนน): การวิเคราะห์ต้นเหตุเชิงลึก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04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Root Cause 1: SLA ที่พลาดเป้าจริง (พ.ค. 2568)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ข้อมูลจริงจากรายงานผลการดำเนินงานศูนย์ 1129 PEA Contact Center (Call Offer 244,737 สาย)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% Abandon Call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❌ ไม่ผ่าน SLA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10.29%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เป้าหมาย &lt; 5.00% (เกินเกณฑ์ 2 เท่า)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สายทิ้งค้างสูงถึง 25,173 สาย/เดือน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Speed of Answer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❌ ไม่ผ่าน SLA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46 วินาที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เป้าหมาย &lt; 10 วินาที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ลูกค้ารอนานกว่ามาตรฐานที่กำหนด 4.6 เท่า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สายที่รอใน 10 วินาที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❌ ไม่ผ่าน SLA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57.40%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เป้าหมาย &gt; 85.00%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พลาดเป้าหมายการให้บริการไปกว่า 27.60%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🎯 แต่ระยะเวลาพูดสาย (Talk Time) ผ่านเกณฑ์ทุกหมวดบริการ!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คุณภาพการตอบของ Agent ผ่าน 100%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แจ้งไฟฟ้าดับ: 3:34 น. (เป้า &lt;5:00) ✅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สอบถามข้อมูล: 2:24 น. (เป้า &lt;3:00) ✅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ขอใช้ไฟฟ้า: 4:29 น. (เป้า &lt;10:00) ✅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ร้องเรียนบริการ: 3:31 น. (เป้า &lt;5:00) ✅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KEY ARCHITECTURAL INSIGHT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"เจ้าหน้าที่ กฟภ. ตอบคำถามได้รวดเร็วและมีคุณภาพสูง แต่คอขวดของระบบคือ ความจุในการเข้าถึง (Capacity) ลูกค้าเข้าไม่ถึงเพราะไม่มีคนรับสาย ไม่ใช่เพราะเจ้าหน้าที่ขาดทักษะ"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1. ปัญหาและสาเหตุรากเหง้า (Root Causes)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(16 คะแนน): การวิเคราะห์ต้นเหตุเชิงลึก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05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Root Cause 2: ปริมาณงานกับจำนวนคน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เพิ่ม Headcount จาก 80 เป็น 135 คน (+68.7%) แต่ Abandon Rate ยังคงเพิ่มขึ้น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จำนวน Agent ประจำการ (ม.ค. - พ.ค. 2568)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เพิ่มขึ้น 68.7%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80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ม.ค.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80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ก.พ.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80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มี.ค.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125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เม.ย.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135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พ.ค.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กฟภ. เพิ่มกำลังคนจาก 80 สู่ 135 คน เพื่อเตรียมรับมือฤดูร้อน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อัตราลูกค้ารอไม่ไหวและทิ้งสาย (% Abandon Call)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ม.ค.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7.38%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ก.พ.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11.21%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มี.ค.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8.79%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เม.ย.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10.29%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พ.ค.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แม้เพิ่มคนแล้วใน เม.ย.-พ.ค. อัตรา Abandon ก็ยังคงเกินเกณฑ์กว่า 2 เท่า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244,737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สายเข้า พ.ค. 68 (ลดลง 22.07% จากปีก่อน) แต่ Abandon แย่ลงจาก 6.32% เป็น 10.29%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+30,290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คำขอ Non-Voice (Chat 14,848 / Social 12,879 / Email 2,542) ทับถมภาระงาน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1. ปัญหาและสาเหตุรากเหง้า (Root Causes)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(16 คะแนน): การวิเคราะห์ผลกระทบ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06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Root Cause 3: ทำไม Manual ถึงตันที่ตรงนี้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ลักษณะสายเข้ากระจุกตัว 17 ชม./วัน (06:00 - 23:00 น.) และกับดักต้นทุนเชิงเส้น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300" b="1">
                <a:solidFill>
                  <a:srgbClr val="4A2574"/>
                </a:solidFill>
                <a:latin typeface="Kanit"/>
              </a:defRPr>
            </a:pPr>
            <a:r>
              <a:t>❌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Manual Headcount (กับดักต้นทุนเชิงเส้น)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300" b="1">
                <a:solidFill>
                  <a:srgbClr val="4A2574"/>
                </a:solidFill>
                <a:latin typeface="Kanit"/>
              </a:defRPr>
            </a:pPr>
            <a:r>
              <a:t>✅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Agentic Voice AI (แก้ปัญหาเชิงโครงสร้าง)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1. ปัญหาและสาเหตุรากเหง้า (Root Causes)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A: สรุปปัญหาและทิศทางแก้ปัญหา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07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สรุปปัญหา: Capacity คือโจทย์จริง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คำตอบไม่ใช่แค่ 'จ้างคนเพิ่ม' หรือ 'Chatbot ตอบคำถามพื้นฐาน' แต่คือ 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300" b="1">
                <a:solidFill>
                  <a:srgbClr val="4A2574"/>
                </a:solidFill>
                <a:latin typeface="Kanit"/>
              </a:defRPr>
            </a:pPr>
            <a:r>
              <a:t>เดิม (Traditional)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300" b="1">
                <a:solidFill>
                  <a:srgbClr val="4A2574"/>
                </a:solidFill>
                <a:latin typeface="Kanit"/>
              </a:defRPr>
            </a:pPr>
            <a:r>
              <a:t>ใหม่ (PEA One Agent)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2. แนวคิดและหลักการ Agentic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+ B: ออกแบบแนวคิด Agentic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08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Chatbot vs Agentic AI: ตารางเปรียบเทียบ 7 มิติ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เติมเต็มช่องว่างจากโจทย์การแข่งขัน: จากระบบตอบคำถาม สู่ปัญญาประดิษฐ์ที่ทำงานแทนลูกค้า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มิติการเปรียบเทียบ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Traditional AI Chatbot (ระบบเดิม)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PEA One Agent (Agentic AI)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1. ขอบเขตการทำงาน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ตอบคำถามตาม Script หรือข้อความที่ฝึกมาเท่านั้น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วิเคราะห์ความต้องการ → วางแผนงาน → เรียกเครื่องมือจริง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2. แหล่งข้อมูลที่ใช้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ฐานข้อมูลเดี่ยว หรือ FAQ แบบ Static ข้อมูลไม่อัปเดต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ดึงข้อมูลสดจากระบบงาน กฟภ. (OMS / VOC / Knowledge)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3. งานข้ามระบบ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ทำไม่ได้ ต้องส่งต่อให้เจ้าหน้าที่มนุษย์ดำเนินการต่อ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ประสานงานหลายระบบจบในลูปเดียว (Bounded Agent Loop)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4. ความเสี่ยง Hallucination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มักเดาคำตอบ (แต่งเรื่อง) เมื่อไม่พบข้อมูล ก่อผลเสีย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Grounded ด้วยเอกสาร กฟภ. เต็มไฟล์ + Fail-Closed ถ้าไม่มีหลักฐาน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5. การเขียนข้อมูล (Write Ops)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ปกติทำไม่ได้ หรือทำแบบเสี่ยงโดยไม่มีการกลั่นกรอง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🔒 มนุษย์ต้องยืนยันเสมอ (prepare → confirm → submit)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6. ช่องทางการติดต่อ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แยกแชตบอทคนละตัวตามแต่ละแอป ข้อมูลไม่เชื่อมกัน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สมองเดียว (Single Brain) บริการทั้ง Web, Voice และ LINE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7. การขยายระบบ (Extensibility)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ต้องแก้โค้ดและพัฒนาใหม่ทั้งระบบเมื่อมีระบบใหม่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⚡ เพิ่มระบบผ่าน Plugin Manifest โดยไม่แตะ Main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2. แนวคิดและหลักการ Agentic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B3FA0"/>
                </a:solidFill>
                <a:latin typeface="IBM Plex Sans Thai"/>
              </a:defRPr>
            </a:pPr>
            <a:r>
              <a:t>เกณฑ์ B (10 คะแนน): วุฒิภาวะและความคิดสร้างสรรค์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09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หลักการออกแบบ (Design Principles)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ลำดับความสำคัญที่ทีมยึดถือเป็นลายลักษณ์อักษรใน AGENTS.md ตั้งแต่วันแรกของโครงการ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#1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Correctness and safety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ความถูกต้องและปลอดภัยสูงสุด — ไม่ยอมแลกกับความเร็ว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หัวใจหลัก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#2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Working MVP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ระบบทำงานได้จริงบนเส้นทางหลัก (Critical Path) ที่ผู้ใช้ต้องใช้งาน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#3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Simplicity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เรียบง่าย ชัดเจน ไม่สร้างความซับซ้อนที่ยังไม่จำเป็น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#4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Maintainability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โค้ดอ่านเข้าใจง่าย มีแบบแผน บำรุงรักษาง่ายในระยะยาว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#5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Test coverage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ทดสอบจุดเสี่ยงสูง (Contracts, Write Safety, State Machine)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#6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Architectural purity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ไม่ยึดติดกับความสมบูรณ์แบบเชิงทฤษฎีจนลืมคุณค่าทางธุรกิจ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#7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Hypothetical scalability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ไม่ออกแบบเผื่อสเกลที่ยังไม่เกิดขึ้นจริงจนเกินความจำเป็น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🛡️ ENGINEERING COMMITMENT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"เราไม่สร้างระบบที่ Over-engineered เกินความจำเป็น แต่จะไม่มีวันแลกความถูกต้อง ความปลอดภัยของข้อมูลลูกค้า และสัญญาระบบ (API Contracts) กับความเร็วหรือการโอ้อวดเทคโนโลยี"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บันทึกเป็นกฎเหล็กใน AGENTS.md ของ Repository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2. แนวคิดและหลักการ Agentic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+ B: ภาพรวมโซลูชัน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10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Solution Overview: สมองเดียว ทุกช่องทาง ทุกระบบ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สถาปัตยกรรมศูนย์รวมที่ประสานช่องทางบริการเข้ากับเครื่องมือ กฟภ. อย่างไร้รอยต่อ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3 ช่องทางบริการ (Channels)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💬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Web Chat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choicePrompt แบบโครงสร้าง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🎙️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Voice (Gemini Live)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PCM16 16/24kHz Realtime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📱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LINE Messaging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HMAC-SHA256 &amp; Postback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➔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ศูนย์กลางประสานงาน (Orchestrator)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🧠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Main Agent (Gateway)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• วางแผนการเรียก Tool แบบเป็นลำดับ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คุม Human-in-the-Loop State Machine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🔌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LLMAdapter (Gemini Production / Demo Stub)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➔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คลังเครื่องมือ (ToolRegistry)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📚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Knowledge Tool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ค้นหาระเบียบ กฟภ. เต็มไฟล์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⚡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OMS Plugin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ตรวจสอบ &amp; แจ้งไฟฟ้าขัดข้อง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📋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VOC Plugin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2. แนวคิดและหลักการ Agentic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(16 คะแนน): เป้าหมายเชิงผลลัพธ์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11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เป้าหมายเชิงผลลัพธ์: เร็วขึ้น แม่นยำขึ้น รองรับได้มากขึ้น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กำหนดเป้าหมายตรงตามโจทย์การแข่งขันอย่างเป็นรูปธรรมและสามารถวัดผลได้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3. สถาปัตยกรรมระบบ &amp; เทคโนโลยี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(16 คะแนน): แผนงาน ทรัพยากร และเครื่องมือ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12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Technology Stack: คัดเลือกเทคโนโลยีที่พิสูจน์แล้ว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เทคโนโลยีทั้งหมดมีอยู่จริงใน pyproject.toml ปราศจาก Dependencies ลอยๆ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ชั้นสถาปัตยกรรม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เทคโนโลยีที่ใช้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บทบาทและความสำคัญในระบบ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Backend Framework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FastAPI (&gt;=0.115) + Uvicorn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High-performance ASGI server รองรับ Async I/O และ WebSocket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Data Validation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Pydantic v2 (&gt;=2.8)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Single Source of Truth ควบคุม Schema ทุกจุด ไม่มี dict ไร้ประเภท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HTTP Client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httpx (&gt;=0.27)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Async HTTP client เรียก OMS/VOC REST และ Gemini API ตรง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Plugin Configuration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PyYAML (&gt;=6.0)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Realtime Voice SDK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google-genai SDK (&gt;=1.0)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เฉพาะโหมดเสียงที่ต้องใช้ Duplex WebSocket กับ Gemini Live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Realtime Transport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WebSocket (/ws/live)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ส่ง-รับสัญญาณเสียงดิบ PCM16 แบบ Two-way streaming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Messaging Bridge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LINE Messaging Webhook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เชื่อมต่อ LINE API พร้อมการตรวจสอบ HMAC-SHA256 Signature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Testing Harness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pytest + pytest-asyncio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ชุดทดสอบอัตโนมัติ 275 รายการ รันจบใน 1.48 วินาที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Dependency Manager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uv (Python packaging)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3. สถาปัตยกรรมระบบ &amp; เทคโนโลยี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+ B: แผนภาพสถาปัตยกรรมทั้งระบบ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13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System Topology: แผนภาพสถาปัตยกรรมทั้งระบบ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โครงสร้าง Plugin-Based Single-Agent Architecture ตาม ARCHITECTURE.md แยกหน้าที่ชัดเจนและปลอดภัย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554480"/>
            <a:ext cx="1069848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10424160" cy="37947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1520" y="5669280"/>
            <a:ext cx="2560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defRPr sz="1000" b="1">
                <a:solidFill>
                  <a:srgbClr val="4A2574"/>
                </a:solidFill>
                <a:latin typeface="Kanit"/>
              </a:defRPr>
            </a:pPr>
            <a:r>
              <a:t>🌐 Multi-Channel ➔ FastAPI</a:t>
            </a:r>
          </a:p>
          <a:p>
            <a:pPr>
              <a:defRPr sz="850">
                <a:solidFill>
                  <a:srgbClr val="6C757D"/>
                </a:solidFill>
                <a:latin typeface="IBM Plex Sans Thai"/>
              </a:defRPr>
            </a:pPr>
            <a:r>
              <a:t>Web Chat, Voice WebSocket, LINE Webhook ใน Process เดียว ไม่แยกส่วน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5669280"/>
            <a:ext cx="25603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defRPr sz="1000" b="1">
                <a:solidFill>
                  <a:srgbClr val="4A2574"/>
                </a:solidFill>
                <a:latin typeface="Kanit"/>
              </a:defRPr>
            </a:pPr>
            <a:r>
              <a:t>🧠 Main Agent (Gateway)</a:t>
            </a:r>
          </a:p>
          <a:p>
            <a:pPr>
              <a:defRPr sz="850">
                <a:solidFill>
                  <a:srgbClr val="6C757D"/>
                </a:solidFill>
                <a:latin typeface="IBM Plex Sans Thai"/>
              </a:defRPr>
            </a:pPr>
            <a:r>
              <a:t>สมองเดี่ยวคุม Bounded Loop ≤ 12 Steps ปราศจาก Sub-agent sprawl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5669280"/>
            <a:ext cx="2560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defRPr sz="1000" b="1">
                <a:solidFill>
                  <a:srgbClr val="4A2574"/>
                </a:solidFill>
                <a:latin typeface="Kanit"/>
              </a:defRPr>
            </a:pPr>
            <a:r>
              <a:t>🔌 Plugin Runtime System</a:t>
            </a:r>
          </a:p>
          <a:p>
            <a:pPr>
              <a:defRPr sz="850">
                <a:solidFill>
                  <a:srgbClr val="6C757D"/>
                </a:solidFill>
                <a:latin typeface="IBM Plex Sans Thai"/>
              </a:defRPr>
            </a:pPr>
            <a:r>
              <a:t>ขยายระบบผ่าน Declarative plugin.yaml ตรวจสอบ Fail-Closed 7 ขั้นตอน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5669280"/>
            <a:ext cx="2560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defRPr sz="1000" b="1">
                <a:solidFill>
                  <a:srgbClr val="4A2574"/>
                </a:solidFill>
                <a:latin typeface="Kanit"/>
              </a:defRPr>
            </a:pPr>
            <a:r>
              <a:t>🛡️ Safe Write State Machine</a:t>
            </a:r>
          </a:p>
          <a:p>
            <a:pPr>
              <a:defRPr sz="850">
                <a:solidFill>
                  <a:srgbClr val="6C757D"/>
                </a:solidFill>
                <a:latin typeface="IBM Plex Sans Thai"/>
              </a:defRPr>
            </a:pPr>
            <a:r>
              <a:t>Prepare ➔ Review ➔ มนุษย์กดยืนยัน ➔ Submit ป้องกันเสี่ยง 100%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3. สถาปัตยกรรมระบบ &amp; เทคโนโลยี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+ B: การออกแบบ Orchestrator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14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Main Agent: หัวใจควบคุมของระบบ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Orchestrator เดี่ยว ควบคุมกระบวนงานอย่างรัดกุมตามกฎใน app/agent/main_agent.py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app/agent/main_agent.py — MainAgentGateway Interface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Python Protocol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กฎเหล็กทางสถาปัตยกรรม (Architectural Invariants)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3. สถาปัตยกรรมระบบ &amp; เทคโนโลยี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B3FA0"/>
                </a:solidFill>
                <a:latin typeface="IBM Plex Sans Thai"/>
              </a:defRPr>
            </a:pPr>
            <a:r>
              <a:t>เกณฑ์ B (10 คะแนน): สถาปัตยกรรมยืดหยุ่น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15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LLMAdapter: สลับ Provider โดยไม่แก้โค้ดธุรกิจ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Provider-Neutral Interface ที่แยกกฎธุรกิจ กฟภ. ออกจากผู้ให้บริการโมเดล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app/llm/client.py — LLMAdapter Protocol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Typed Protocol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• LLMRequest: messages + active tool catalogue (typed) + correlation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Production Provider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GeminiAdapter (REST)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Deterministic Test Provider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DemoAdapter (Stub)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🔒 Policy Boundary: LLMAdapter ปราศจากกฎธุรกิจของ กฟภ., ไม่แตะ Database หรือ Backend ตรง, และซ่อน Secret เสมอ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3. สถาปัตยกรรมระบบ &amp; เทคโนโลยี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B3FA0"/>
                </a:solidFill>
                <a:latin typeface="IBM Plex Sans Thai"/>
              </a:defRPr>
            </a:pPr>
            <a:r>
              <a:t>เกณฑ์ B (10 คะแนน): สถาปัตยกรรม 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16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Tool Interface &amp; ToolRegistry แบบ Fail-Closed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ทุกเครื่องมือพูดภาษาเดียวกันผ่าน Typed Protocol และคัดกรองตั้งแต่ก่อนเรียกใช้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app/agent/registry.py — Tool Protocol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Interface Contract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🛡️ Fail-Closed Registry Guards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🔒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Fixed Known Tools Allowlist: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ระบบกำหนดรายชื่อ Tool ที่ถูกต้องตายตัวตอน Startup (Knowledge, OMS, VOC, Sabuy) ชื่อที่ไม่รู้จักถูกบล็อกทันที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⚡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Action-to-Name Matching: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ตรวจว่า Action ตรงกับ Tool จริงหรือไม่ เช่น ห้ามเรียก get_outage_by_ca ผ่าน voc_tool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🚫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Prevent Direct Backend Calls: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หาก Schema ผิด หรือมีข้อผิดพลาด Registry จะคืน ToolError ที่ปลอดภัย ป้องกัน Backend แครช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3. สถาปัตยกรรมระบบ &amp; เทคโนโลยี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(16 คะแนน): สัญญา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17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HTTP API Contracts: ภาพรวม 7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สัญญา API ที่ตรึงไว้ (Frozen Contracts) ตาม CONTRACTS.md v1 สำหรับทุก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Method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Path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หน้าที่การทำงาน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ลักษณะความปลอดภัย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POST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/api/v1/chat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ส่งข้อความแชต รับคำตอบ/pendingAction/citations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Max 4,000 ตัวอักษร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POST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/api/v1/actions/{id}/confirm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มนุษย์กดยืนยันรายการ → ส่ง submit_* เข้าระบบจริง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Idempotent Key บังคับ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POST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/api/v1/actions/{id}/reject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เรียกดู Trace Events ทั้งหมดของบทสนทนา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Pre-storage Redaction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POST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/api/v1/reset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ล้างสถานะ Demo ทั้งหมดเพื่อเริ่มการสาธิตใหม่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In-Memory Reset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GET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/health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ตรวจสอบความพร้อมของระบบและเครื่องมือ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ซ่อน Secrets/URLs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WS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/ws/live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ช่องสัญญาณเสียงสด Full-duplex (Gemini Live)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PCM16 Binary Frames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3. สถาปัตยกรรมระบบ &amp; เทคโนโลยี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(16 คะแนน): ตัวอย่างสัญญา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18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HTTP API Contracts: ตัวอย่าง Request &amp;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โครงสร้าง JSON จริงของ POST /api/v1/chat — ทุกฟิลด์ผ่านการตรวจสอบ Pydantic 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300" b="1">
                <a:solidFill>
                  <a:srgbClr val="4A2574"/>
                </a:solidFill>
                <a:latin typeface="Kanit"/>
              </a:defRPr>
            </a:pPr>
            <a:r>
              <a:t>POST /api/v1/chat — Request Body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JSON Schema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300" b="1">
                <a:solidFill>
                  <a:srgbClr val="4A2574"/>
                </a:solidFill>
                <a:latin typeface="Kanit"/>
              </a:defRPr>
            </a:pPr>
            <a:r>
              <a:t>200 OK — Response Body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JSON Schema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3. สถาปัตยกรรมระบบ &amp; เทคโนโลยี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+ B: ความปลอดภัยระดับโค้ด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19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Write-Safety State Machine: มนุษย์คุมจุดเสี่ยง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ตอบโจทย์ 'มีมนุษย์กำกับดูแลในจุดเสี่ยง' ด้วย State Machine ระดับโค้ด ไม่ใช่แค่ขอร้องใน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1. LLM เรียกได้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prepare_*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ร่างรายการและจัดเตรียมพารามิเตอร์ตรวจสอบความถูกต้อง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➔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2. รอการตัดสินใจ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pending_confirmation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สร้าง pendingActionId และส่ง Preview ให้ผู้ใช้ตรวจทาน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➔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3. มนุษย์ตัดสินใจ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[Confirm / Reject]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ผู้ใช้กดปุ่ม หรือยืนยันด้วยเสียงอย่างชัดแจ้ง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➔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4. Internal Only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submit_*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ยิงบันทึกข้อมูลเข้าระบบงานจริง (OMS / VOC)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🚫 LLM เรียก Submit ไม่ได้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ใน Manifest ทุก submit action ถูกตั้งเป็น exposure: internal โมเดลไม่เห็นชื่อฟังก์ชันนี้ในแค็ตตาล็อก ต่อให้ Prompt Injection ก็สั่งเขียนข้อมูลไม่ได้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🔄 Idempotent Resubmission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หากกดกดยืนยันซ้ำ หรือเครือข่ายส่งซ้ำ ระบบจะคืนผลลัพธ์เดิมทันที ไม่สร้างเคสหรือแจ้งเหตุซ้ำซ้อนในระบบงาน กฟภ.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⚠️ HTTP 409 Conflict Guard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หากพยายามกดยืนยันรายการที่ถูกปฏิเสธไปแล้ว หรืออยู่นอกสถานะ ระบบจะตอบกลับด้วย HTTP 409 Conflict ทันที ไม่ยอมให้ข้อมูลขัดแย้งกัน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3. สถาปัตยกรรมระบบ &amp; เทคโนโลยี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B3FA0"/>
                </a:solidFill>
                <a:latin typeface="IBM Plex Sans Thai"/>
              </a:defRPr>
            </a:pPr>
            <a:r>
              <a:t>เกณฑ์ B (10 คะแนน): นวัตกรรมไร้ Hallucination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20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Knowledge Grounding: ตอบจากเอกสารจริง ไม่เดา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ไม่ใช้ Vector Search / Chunk RAG — นวัตกรรม Full-File Long Context แม่นยำ 100%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ขั้นที่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ขั้นที่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ขั้นที่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💡 ทำไมถึงเหนือกว่า Traditional Chunk RAG?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งานระเบียบและอัตราค่าไฟฟ้า กฟภ. ต้องการความแม่นยำทางกฎหมาย 100% Chunk RAG ทั่วไปมักตัดประโยคเงื่อนไขหลุดบริบท แต่ Long Context อ่านเอกสารทั้งฉบับ ทำให้เข้าใจข้อยกเว้นและตารางอัตราค่าไฟได้อย่างถูกต้องครบถ้วน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🛡️ Fail-Closed: ถ้าไม่มีเอกสาร = บอกว่าไม่รู้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หากไม่มีเอกสารตรงกับคำถาม หรือข้อมูลกำกวม ระบบจะคืนสถานะ no-evidence ให้ Agent ตอบปฏิเสธอย่างสุภาพ หรือส่งต่อเจ้าหน้าที่ ห้ามเดาหรือแต่งคำตอบโดยเด็ดขาด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3. สถาปัตยกรรมระบบ &amp; เทคโนโลยี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(16 คะแนน): การตรวจสอบย้อนกลับ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21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Trace &amp; Observability: ตรวจสอบย้อนหลังได้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โครงสร้าง Audit Trail ที่บันทึกทุกการตัดสินใจ และปกปิดข้อมูลอ่อนไหวตั้งแต่ชั้นจัดเก็บ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⏱️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GET /api/v1/traces/{conversationId} — Structured Audit Event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Audit JSON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4. ช่องทางบริการ &amp; ระบบปลั๊กอิน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+ B: สถาปัตยกรรมหลายช่องทาง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22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3 ช่องทาง สมองเดียว (Unified Gateway)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Web Chat, Voice และ LINE สื่อสารกับ Main Agent ผ่าน Protocol เดียวกัน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ช่องทางที่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ช่องทางที่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ช่องทางที่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4. ช่องทางบริการ &amp; ระบบปลั๊กอิน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(16 คะแนน): ประสบการณ์ผู้ใช้ Web 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23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Web Chat Interface: การโต้ตอบแบบมีโครงสร้าง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choicePrompt ที่ปลอดภัยจาก Prompt Injection และปุ่มยืนยันที่เรียก API จริง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📋 รายการที่รอการยืนยัน (Pending Action)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เลขผู้ใช้ไฟ: 020012345678 | สถานที่: อ.เมือง จ.เชียงใหม่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🔒 คุณลักษณะด้านความปลอดภัยของ Web UI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Catalog-Driven choicePrompt: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ตัวเลือกทั้งหมดมาจาก Backend Catalog กฟภ. ไม่ใช่ข้อความที่ LLM แต่งขึ้น ป้องกันการฉีดข้อความหลอก (Prompt Injection)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Explicit Endpoint Invocation: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ปุ่มยืนยันยิงตรงไปยัง /api/v1/actions/{id}/confirm เป็น HTTP Request แยกต่างหาก ไม่ใช่การพิมพ์ "ใช่/ตกลง" ในแชต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Resettable Demo Context: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มีปุ่ม Reset Demo ที่เรียก /api/v1/reset ล้าง In-Memory Store สำหรับให้กรรมการทดสอบซ้ำได้ทันที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4. ช่องทางบริการ &amp; ระบบปลั๊กอิน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+ B: สถาปัตยกรรมเสียงเรียลไทม์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24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Voice Interface: Gemini Live &amp; WebSocket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ระบบเสียง Full-Duplex Low-Latency สำหรับสายโทรศัพท์ 1129 หรือการคุยผ่านเว็บ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ไมโครโฟน / สายเข้า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VoiceBridge Session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ลำโพง / หูฟัง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🎙️ 3 ฟังก์ชันเสียงที่ปลอดภัย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โมเดลเห็นเพียง pea_agent_chat, pea_confirm_pending_action, และ pea_reject_pending_action โดยไม่มีฟังก์ชันไหนรับ pendingActionId เลย — Bridge จะผูก ID ของเซสชันให้เอง ป้องกันโมเดลปลอม 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⚡ Barge-in &amp; Interruption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เมื่อผู้ใช้พูดแทรก (Barge-in) ระบบจะส่งเหตุการณ์ audio.interrupted ล้างคิวเสียงที่ค้างอยู่ทันที เพื่อให้การสนทนาลื่นไหลเหมือนคุยกับคนจริง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📢 Dynamic Voice Guidance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คำแนะนำการพูดตามอุปกรณ์: กรณีมีหน้าจอ AI จะบอกให้กดปุ่มยืนยันบนจอ แต่กรณีไร้หน้าจอ (สายโทรศัพท์) AI จะอ่านตัวเลือกให้ผู้ใช้ฟังจนครบถ้วน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4. ช่องทางบริการ &amp; ระบบปลั๊กอิน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(16 คะแนน): โปรโตคอลระบบเสียง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25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Voice Interface: โปรโตคอลเหตุการณ์ (Event Protocol)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โครงสร้างเหตุการณ์แบบ Event-Driven ผ่าน WebSocket /ws/live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Event Type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ทิศทาง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ความหมายและหน้าที่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Payload ตัวอย่าง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🟢 session.ready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Server ➔ Client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เชื่อมต่อ WebSocket และเตรียม Audio Pipeline พร้อมแล้ว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{ "conversationId": "uuid" }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🎙️ transcript.user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Server ➔ Client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ข้อความที่ถอดเสียงจากคำพูดของผู้ใช้ไฟฟ้าสดๆ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{ "text": "ไฟดับครับ" }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🤖 transcript.assistant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Server ➔ Client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⚡ agent.response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Server ➔ Client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ผลลัพธ์ทางธุรกิจจาก Main Agent (Chat/Confirm/Reject)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{ "pendingAction": {...} }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✋ audio.interrupted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Server ➔ Client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ผู้ใช้พูดแทรก — ให้ Client หยุดเล่นเสียงและล้าง Buffer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{ "reason": "barge_in" }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✅ turn.complete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Server ➔ Client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AI พูดจบประโยคของรอบการสนทนานั้น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{ "turnId": "..." }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⚠️ error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Server ➔ Client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4. ช่องทางบริการ &amp; ระบบปลั๊กอิน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(16 คะแนน): ประสบการณ์ผู้ใช้ 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26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LINE Interface: ความปลอดภัยผ่าน Postback Buttons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ยืนยันรายการผ่านปุ่ม Postback เท่านั้น — ประกาศไม่ตีความแชตอย่างชัดเจน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438912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50" b="1">
                <a:solidFill>
                  <a:srgbClr val="06C755"/>
                </a:solidFill>
                <a:latin typeface="Kanit"/>
              </a:defRPr>
            </a:pPr>
            <a:r>
              <a:t>LINE OA: PEA Official Service</a:t>
            </a:r>
          </a:p>
          <a:p>
            <a:pPr>
              <a:defRPr sz="1000">
                <a:solidFill>
                  <a:srgbClr val="212529"/>
                </a:solidFill>
                <a:latin typeface="IBM Plex Sans Thai"/>
              </a:defRPr>
            </a:pPr>
            <a:r>
              <a:t>👤 ลูกค้า: แจ้งเรื่องร้องเรียนมิเตอร์ไฟฟ้าอ่านผิดครับ</a:t>
            </a:r>
          </a:p>
          <a:p>
            <a:pPr>
              <a:defRPr sz="950">
                <a:solidFill>
                  <a:srgbClr val="4A2574"/>
                </a:solidFill>
                <a:latin typeface="IBM Plex Sans Thai"/>
              </a:defRPr>
            </a:pPr>
            <a:r>
              <a:t>⚡ AI: PEA One Agent ได้ร่างเคส VOC ให้ท่านแล้ว กรุณากดยืนยันผ่านปุ่มด้านล่าง [Simulation]</a:t>
            </a:r>
          </a:p>
          <a:p>
            <a:pPr>
              <a:defRPr sz="1050" b="1">
                <a:solidFill>
                  <a:srgbClr val="06C755"/>
                </a:solidFill>
                <a:latin typeface="Kanit"/>
              </a:defRPr>
            </a:pPr>
            <a:r>
              <a:t>🔘 [ยืนยันเปิดเคส VOC]    ❌ [ยกเลิก]</a:t>
            </a:r>
          </a:p>
        </p:txBody>
      </p:sp>
      <p:pic>
        <p:nvPicPr>
          <p:cNvPr id="12" name="Picture 11" descr="line_richmen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749039"/>
            <a:ext cx="4114800" cy="24688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394960" y="1600200"/>
            <a:ext cx="603504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🔒 X-Line-Signature Verification</a:t>
            </a:r>
          </a:p>
          <a:p>
            <a:pPr>
              <a:defRPr sz="1000">
                <a:solidFill>
                  <a:srgbClr val="6C757D"/>
                </a:solidFill>
                <a:latin typeface="IBM Plex Sans Thai"/>
              </a:defRPr>
            </a:pPr>
            <a:r>
              <a:t>ตรวจสอบลายเซ็น HMAC-SHA256 ของ Raw Request Body ทุกครั้ง หากไม่ถูกต้องจะตัดทิ้งด้วย HTTP 403 Forbidden ทันทีแบบ Fail-Closed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2807208"/>
            <a:ext cx="603504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🚫 No Free-Text Confirmation</a:t>
            </a:r>
          </a:p>
          <a:p>
            <a:pPr>
              <a:defRPr sz="1000">
                <a:solidFill>
                  <a:srgbClr val="6C757D"/>
                </a:solidFill>
                <a:latin typeface="IBM Plex Sans Thai"/>
              </a:defRPr>
            </a:pPr>
            <a:r>
              <a:t>การตีความคำว่า 'ใช่/ตกลง/เอาเลย' จากแชตถูกตัดออกเพื่อความปลอดภัย ต้องกดปุ่ม Postback ที่มี ID กำกับเท่านั้น ป้องกันโมเดลตีความผิดพลาด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4014216"/>
            <a:ext cx="603504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⚡ Fast Return &amp; Background Loop</a:t>
            </a:r>
          </a:p>
          <a:p>
            <a:pPr>
              <a:defRPr sz="1000">
                <a:solidFill>
                  <a:srgbClr val="6C757D"/>
                </a:solidFill>
                <a:latin typeface="IBM Plex Sans Thai"/>
              </a:defRPr>
            </a:pPr>
            <a:r>
              <a:t>ตอบกลับ HTTP 200 ให้ LINE ภายใน 1 วินาทีเพื่อป้องกัน Timeout แล้วประมวลผล Agent Loop ใน Background พร้อมแสดงสถานะ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5221224"/>
            <a:ext cx="603504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🏷️ Simulation Tagging</a:t>
            </a:r>
          </a:p>
          <a:p>
            <a:pPr>
              <a:defRPr sz="1000">
                <a:solidFill>
                  <a:srgbClr val="6C757D"/>
                </a:solidFill>
                <a:latin typeface="IBM Plex Sans Thai"/>
              </a:defRPr>
            </a:pPr>
            <a:r>
              <a:t>แสดงป้าย [Simulation] ทุกครั้งเมื่อผลลัพธ์เชื่อมต่อกับ Backend จำลอง เพื่อความโปร่งใสต่อผู้ใช้และคณะกรรมการ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4. ช่องทางบริการ &amp; ระบบปลั๊กอิน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A: ตารางเปรียบเทียบช่องทาง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27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เปรียบเทียบความสามารถ 3 ช่องทางบริการ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สรุปการปรับแต่ง UX ให้เหมาะสมกับข้อจำกัดของแต่ละช่องทาง โดยใช้สมองเดียวกัน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มิติคุณลักษณะ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💻 Web Chat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🎙️ Voice (Gemini Live)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📱 LINE Messaging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1. choicePrompt รูปแบบปุ่ม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✅ มี (คลิกเลือกได้)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❌ ไม่มี (ใช้เสียงอ่านแทน)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✅ มี (Quick Reply)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2. วิธียืนยันรายการ (Confirm)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🔘 ปุ่มกด / API Endpoint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🗣️ ยืนยันด้วยเสียง (Session-bound)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🔘 ปุ่ม Postback เท่านั้น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3. บังคับอ่านตัวเลือกให้ครบ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⚪ ไม่จำเป็น (เห็นบนจอ)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⚠️ บังคับอ่าน (กรณีไร้จอ)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⚪ ไม่จำเป็น (อ่านเองบนจอ)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4. การส่งข้อมูลสด (Realtime)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HTTP Request / Response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WebSocket Duplex (PCM16)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Webhook + Push Message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5. กลไกจัดการข้อความแทรก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ส่งคำขอใหม่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Barge-in (Flush Queue ทันที)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ต่อคิวข้อความใหม่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💡 บทสรุป: ช่องทางต่างกันที่การนำเสนอ (Presentation Layer) แต่กระบวนการตัดสินใจและเครื่องมือหลังบ้านเป็นตัวเดียวกัน 100%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4. ช่องทางบริการ &amp; ระบบปลั๊กอิน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B3FA0"/>
                </a:solidFill>
                <a:latin typeface="IBM Plex Sans Thai"/>
              </a:defRPr>
            </a:pPr>
            <a:r>
              <a:t>เกณฑ์ B (10 คะแนน): นวัตกรรมระบบปลั๊กอิน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28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ทำไมต้องมีระบบปลั๊กอิน (Plugin Architecture)?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ระบบไฟฟ้า กฟภ. ไม่ได้มีแค่ OMS หรือ VOC — ต้องขยายสู่ระบบอนาคตได้โดยไม่แก้โค้ดแกนกลาง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📜</a:t>
            </a:r>
          </a:p>
          <a:p>
            <a:pPr>
              <a:defRPr sz="1000">
                <a:solidFill>
                  <a:srgbClr val="212529"/>
                </a:solidFill>
                <a:latin typeface="IBM Plex Sans Thai"/>
              </a:defRPr>
            </a:pPr>
            <a:r>
              <a:t>• Declarative Manifest</a:t>
            </a:r>
          </a:p>
          <a:p>
            <a:pPr>
              <a:defRPr sz="1000">
                <a:solidFill>
                  <a:srgbClr val="212529"/>
                </a:solidFill>
                <a:latin typeface="IBM Plex Sans Thai"/>
              </a:defRPr>
            </a:pPr>
            <a:r>
              <a:t>• ประกาศความสามารถผ่าน plugin.yaml สื่อสารให้ LLM เข้าใจ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🛡️</a:t>
            </a:r>
          </a:p>
          <a:p>
            <a:pPr>
              <a:defRPr sz="1000">
                <a:solidFill>
                  <a:srgbClr val="212529"/>
                </a:solidFill>
                <a:latin typeface="IBM Plex Sans Thai"/>
              </a:defRPr>
            </a:pPr>
            <a:r>
              <a:t>• Fail-Closed Validation</a:t>
            </a:r>
          </a:p>
          <a:p>
            <a:pPr>
              <a:defRPr sz="1000">
                <a:solidFill>
                  <a:srgbClr val="212529"/>
                </a:solidFill>
                <a:latin typeface="IBM Plex Sans Thai"/>
              </a:defRPr>
            </a:pPr>
            <a:r>
              <a:t>• ถ้า Manifest ไม่ตรงกับโค้ดจริง ระบบจะหยุดทำงานทันทีตั้งแต่เริ่ม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⚡</a:t>
            </a:r>
          </a:p>
          <a:p>
            <a:pPr>
              <a:defRPr sz="1000">
                <a:solidFill>
                  <a:srgbClr val="212529"/>
                </a:solidFill>
                <a:latin typeface="IBM Plex Sans Thai"/>
              </a:defRPr>
            </a:pPr>
            <a:r>
              <a:t>• Zero Core Modification</a:t>
            </a:r>
          </a:p>
          <a:p>
            <a:pPr>
              <a:defRPr sz="1000">
                <a:solidFill>
                  <a:srgbClr val="212529"/>
                </a:solidFill>
                <a:latin typeface="IBM Plex Sans Thai"/>
              </a:defRPr>
            </a:pPr>
            <a:r>
              <a:t>• เพิ่มปลั๊กอินใหม่โดยไม่ต้องแตะ main_agent.py เลยแม้แต่บรรทัดเดียว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4. ช่องทางบริการ &amp; ระบบปลั๊กอิน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B3FA0"/>
                </a:solidFill>
                <a:latin typeface="IBM Plex Sans Thai"/>
              </a:defRPr>
            </a:pPr>
            <a:r>
              <a:t>เกณฑ์ B (10 คะแนน): Declarative Manifest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29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Plugin Manifest: ตัวอย่างจริง (app/plugins/oms/plugin.yaml)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ประกาศเครื่องมือใหม่แบบ Declarative โดยไม่เก็บ Secret และบังคับ Internal Submit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app/plugins/oms/plugin.yaml — Production Manifest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YAML Specification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apiVersion: pea.one/v1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kind: Plugin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metadata: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id: oms_tool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name: OMS Outage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enabled: true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description: ตรวจเหตุไฟฟ้าขัดข้องด้วยเลขผู้ใช้ไฟ 12 หลัก...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runtime: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factory: app.plugins.oms.factory:create_plugin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configuration: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baseUrlEnv: OMS_BASE_URL    # เก็บเฉพาะชื่อ ENV ไม่เก็บ Secret ในไฟล์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apiKeyEnv: OMS_API_KEY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operations: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- action: get_outage_by_ca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exposure: llm              # LLM เรียกอ่านข้อมูลได้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mode: read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- action: prepare_outage_with_ca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exposure: llm              # LLM เรียกร่างรายการได้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mode: prepare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submitAction: submit_outage_with_ca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- action: submit_outage_with_ca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exposure: internal         # 🔒 บังคับ Internal! LLM ไม่มีสิทธิ์เรียกตรง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mode: submit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4. ช่องทางบริการ &amp; ระบบปลั๊กอิน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B3FA0"/>
                </a:solidFill>
                <a:latin typeface="IBM Plex Sans Thai"/>
              </a:defRPr>
            </a:pPr>
            <a:r>
              <a:t>เกณฑ์ B (10 คะแนน): วุฒิภาวะวิศวกรรมความปลอดภัย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30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Plugin Loader: 7-Step Fail-Closed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Manifest ผิด = ระบบไม่ Start — ดักจับข้อผิดพลาดตั้งแต่ก่อนรันจริงใน app/plugins/loader.py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1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Glob plugin.yaml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อ่านไฟล์ทุกโฟลเดอร์ ปลั๊กอินที่ enabled: false ข้ามไปอย่างปลอดภัย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❌ ไม่พบ / อ่านไม่ได้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2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Model Validate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ตรวจสอบ Schema เบื้องต้นด้วย PluginManifest.model_validate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❌ Schema ผิด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3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Contract Matching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ตรวจ Action เทียบกับ app/contracts.py ต้องมี Pydantic Model รองรับจริง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❌ Action ไร้สัญญา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4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Action Completeness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ตรวจสอบว่าประกาศครบตามที่โค้ดรองรับ ไม่ขาดและไม่เกิน (Missing / Unknown = Error)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❌ สัญญาไม่ตรง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5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Submit Exposure Check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บังคับกฎเหล็ก: ทุก submit action ต้องเป็น exposure: internal เท่านั้น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❌ Submit เปิดให้ LLM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6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Trusted Factory Root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ตรวจว่า Factory Module ต้องอยู่ใต้ app.plugins.* ป้องกันโค้ดแปลกปลอม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❌ Factory นอกพื้นที่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7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Runtime Protocol Check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รัน Factory ตรวจว่ามี execute, reset และชื่อตรงกับ metadata.id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❌ ไม่ครบ Protocol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4. ช่องทางบริการ &amp; ระบบปลั๊กอิน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B3FA0"/>
                </a:solidFill>
                <a:latin typeface="IBM Plex Sans Thai"/>
              </a:defRPr>
            </a:pPr>
            <a:r>
              <a:t>เกณฑ์ B (10 คะแนน): ความสามารถในการขยายระบบ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31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CLI Scaffolding: ./scripts/add-plugin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คำสั่ง CLI อัตโนมัติที่พิสูจน์แล้วว่าสร้างปลั๊กอินใหม่ได้ใน 6 ขั้นตอนโดยไม่แตะ Main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⚡ 6 ขั้นตอนเพิ่มระบบใหม่สู่ PEA One Agent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1. ประกาศ Contract: เพิ่ม Pydantic Model ใน app/contracts.py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2. รัน CLI Tool: ./scripts/add-plugin &lt;ชื่อ&gt; เจนโครงสร้างไฟล์อัตโนมัติ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3. เขียน Tool Class: จัดการเชื่อมต่อ HTTP API และ Error Mapping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4. ระบุ Description: อธิบายความสามารถให้ LLM เลือกใช้งานได้ถูกต้อง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5. ตั้งค่า Config: เพิ่ม Base URL / API Key ใน Settings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6. ตั้ง enabled: true: รีสตาร์ต Server — Main Agent จะมองเห็นและใช้งานได้ทันที!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4. ช่องทางบริการ &amp; ระบบปลั๊กอิน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A: ปลั๊กอินที่พร้อมใช้งาน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32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ปลั๊กอินที่มีอยู่วันนี้: พิสูจน์การทำงานจริง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ระบบรองรับหลายปลั๊กอินพร้อมกัน และพิสูจน์การแยกส่วนที่สมบูรณ์ด้วย Dormant Plugin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✅ ENABLED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oms_tool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OMS Outage Service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เชื่อมต่อระบบไฟฟ้าขัดข้องของ กฟภ. ผ่าน REST API ด้วย HTTPX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5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Operations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2 Pairs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Prepare/Submit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get_outage_by_ca (Read)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prepare_outage_with_ca (Prepare)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submit_outage_with_ca (Submit/Internal)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✅ ENABLED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voc_tool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VOC Feedback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1 Pair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Prepare/Submit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list_categories (Read)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prepare_case (Prepare)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submit_case (Submit/Internal)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get_case (Read/Tracking)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⏸ DORMANT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sabuy_tool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Sabuy Payment Service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ระบบตรวจสอบบิลและชำระค่าไฟฟ้า เขียนโค้ดและ Unit Test ครบ 14 เทสแล้ว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Ready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Code &amp; Tests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False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enabled: false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4. ช่องทางบริการ &amp; ระบบปลั๊กอิน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A: ตัวอย่างกระบวนการ VOC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33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ตัวอย่างกระบวนงาน VOC: อ่าน ร่าง ยืนยัน ส่ง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การประยุกต์ใช้ Safe Pattern เดียวกันกับระบบงานร้องเรียนและบริการ กฟภ.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ขั้นที่ 1: ดึงแค็ตตาล็อก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ขั้นที่ 2: จัดเตรียมเคส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ขั้นที่ 3: มนุษย์ยืนยัน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ขั้นที่ 4: ส่งข้อมูลจริง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5. ตัวอย่างการทำงานจริง (Use Cases)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(16 คะแนน): การอธิบายขั้นตอนการทำงาน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34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Case Study: แจ้งเหตุไฟฟ้าดับผ่าน Web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เดินตามลำดับเหตุการณ์จริง 7 ขั้นตอน ตั้งแต่รับข้อความจนบันทึกสำเร็จเข้าระบบ OMS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1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ลูกค้าพิมพ์ข้อความ: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"ไฟดับที่บ้าน เลขผู้ใช้ไฟ 020012345678"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2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Main Agent วิเคราะห์และวางแผน: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เรียก oms_tool.get_outage_by_ca เพื่อตรวจสอบข้อมูลสด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3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OMS ตรวจสอบจุดเชื่อมต่อ: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Meter ➔ หม้อแปลง ➔ Feeder พบว่ายังไม่มีการรายงานในพื้นที่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Main Agent เรียกร่างรายการ: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เรียก prepare_outage_with_ca ได้ pendingActionId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5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ส่ง choicePrompt ให้ผู้ใช้: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แสดงข้อมูลให้ตรวจทาน พร้อมปุ่ม "ยืนยันแจ้งเหตุ" / "ยกเลิก"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6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ลูกค้ากดปุ่มยืนยัน: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ยิง /api/v1/actions/{id}/confirm ➔ เรียก submit_outage_with_ca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7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บันทึก Trace และแจ้งผล: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ออกเลขรับแจ้งเหตุให้ลูกค้า ตรวจสอบย้อนหลังได้ใน TraceStore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5. ตัวอย่างการทำงานจริง (Use Cases)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(16 คะแนน): การทำงานข้ามช่องทาง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35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Case Study เดียวกัน แต่ผ่านช่องทางเสียง (Voice)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ตรรกะทางธุรกิจเหมือนกัน 100% แต่ปรับเปลี่ยน Presentation ให้เข้ากับสายโทรศัพท์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🧠</a:t>
            </a:r>
          </a:p>
          <a:p>
            <a:pPr>
              <a:defRPr sz="1000">
                <a:solidFill>
                  <a:srgbClr val="212529"/>
                </a:solidFill>
                <a:latin typeface="IBM Plex Sans Thai"/>
              </a:defRPr>
            </a:pPr>
            <a:r>
              <a:t>• ตรรกะเบื้องหลังที่ไม่เปลี่ยน (100% Identical)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🎙️</a:t>
            </a:r>
          </a:p>
          <a:p>
            <a:pPr>
              <a:defRPr sz="1000">
                <a:solidFill>
                  <a:srgbClr val="212529"/>
                </a:solidFill>
                <a:latin typeface="IBM Plex Sans Thai"/>
              </a:defRPr>
            </a:pPr>
            <a:r>
              <a:t>• สิ่งที่ปรับแต่งเฉพาะช่องทางเสียง (Voice Guidance)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💡 ข้อพิสูจน์: การแยกชั้น Presentation และ Business Logic อย่างเด็ดขาด ทำให้ กฟภ. พัฒนาระบบงานเพียงครั้งเดียว แต่ใช้งานได้ทุกช่องทาง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5. ตัวอย่างการทำงานจริง (Use Cases)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+ B: กลไก Fail-Closed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36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Fail-Closed Example: เมื่อไม่มีหลักฐาน ระบบบอกว่าไม่รู้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ตัวอย่างจริงเมื่อผู้ใช้ถามคำถามที่ไม่มีในระเบียบ กฟภ. — ห้ามเดาคำตอบอย่างเด็ดขาด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❌ Traditional AI Chatbot (เสี่ยงสูง)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ผู้ใช้: "กฟภ. มีโปรโมชั่นแจกเครื่องปรับอากาศอินเวอร์เตอร์ฟรีให้บ้านที่ใช้ไฟเกิน 500 หน่วยไหมครับ?"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AI ทั่วไป (Hallucinate): "มีครับ! กฟภ. มีโครงการประหยัดพลังงาน สามารถลงทะเบียนรับสิทธิ์ได้ที่สำนักงานการไฟฟ้าใกล้บ้านท่าน..."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⚠️ อันตราย: ก่อให้เกิดความเข้าใจผิด สร้างความเสียหายต่อชื่อเสียง กฟภ. และเกิดข้อพิพาทกับผู้ใช้ไฟฟ้า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✅ PEA One Agent (Fail-Closed)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ผู้ใช้: "กฟภ. มีโปรโมชั่นแจกเครื่องปรับอากาศอินเวอร์เตอร์ฟรีให้บ้านที่ใช้ไฟเกิน 500 หน่วยไหมครับ?"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PEA One Agent: "จากการตรวจสอบระเบียบและประกาศทางการของ กฟภ. ไม่พบข้อมูลโครงการแจกเครื่องปรับอากาศฟรีดังกล่าวครับ หากต้องการสอบถามข้อมูลเพิ่มเติม แนะนำติดต่อศูนย์บริการ 1129 ครับ"</a:t>
            </a:r>
          </a:p>
          <a:p>
            <a:pPr>
              <a:defRPr sz="1050">
                <a:solidFill>
                  <a:srgbClr val="212529"/>
                </a:solidFill>
                <a:latin typeface="IBM Plex Sans Thai"/>
              </a:defRPr>
            </a:pPr>
            <a:r>
              <a:t>• 🛡️ ปลอดภัย: Document Router ไม่พบคู่มือที่ตรง ➔ ส่งสถานะ no-evidence ➔ ตอบปฏิเสธอย่างถูกต้องและสุภาพ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6. ผลลัพธ์ การประเมิน &amp; แผนงาน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(16 คะแนน): วิธีการทดสอบและผลลัพธ์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37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Testing Strategy: 275 Automated Tests ผ่าน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รันจบใน 1.48 วินาที — ทดสอบครอบคลุมทุกจุดเสี่ยงโดยไม่มีการเรียก Network ภายนอกแม้แต่ครั้งเดียว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275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1.48s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0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100%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6. ผลลัพธ์ การประเมิน &amp; แผนงาน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(16 คะแนน): แผนทดลองกับหน่วยงาน &gt;= 2 แห่ง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38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Pilot Evaluation: โครงร่างการทดลองใช้ใน 2 หน่วยงานนำร่อง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ตอบโจทย์เกณฑ์ A (16 คะแนน): กรอบประเมินผลเชิงปริมาณและคุณภาพ พร้อมรองรับการใส่ข้อมูลจริงของท่าน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5212080" cy="4160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300" b="1">
                <a:solidFill>
                  <a:srgbClr val="4A2574"/>
                </a:solidFill>
                <a:latin typeface="Kanit"/>
              </a:defRPr>
            </a:pPr>
            <a:r>
              <a:t>🏢 หน่วยงานนำร่องที่ 1 (Voice / 24 ชม.)</a:t>
            </a:r>
          </a:p>
          <a:p>
            <a:pPr>
              <a:defRPr sz="950">
                <a:latin typeface="IBM Plex Sans Thai"/>
              </a:defRPr>
            </a:pPr>
            <a:r>
              <a:t>ชื่อหน่วยงาน: [ระบุ เช่น ศูนย์บริการข้อมูลผู้ใช้ไฟฟ้า 1129]</a:t>
            </a:r>
          </a:p>
          <a:p>
            <a:pPr>
              <a:defRPr sz="950">
                <a:latin typeface="IBM Plex Sans Thai"/>
              </a:defRPr>
            </a:pPr>
            <a:r>
              <a:t>ขอบเขตงาน: [ระบุ เช่น ทดสอบ Voice Agent รับแจ้งเหตุไฟฟ้าขัดข้องและสอบถามข้อมูล 12 เขต]</a:t>
            </a:r>
          </a:p>
          <a:p>
            <a:pPr>
              <a:defRPr sz="950" b="1">
                <a:solidFill>
                  <a:srgbClr val="6B3FA0"/>
                </a:solidFill>
                <a:latin typeface="IBM Plex Sans Thai"/>
              </a:defRPr>
            </a:pPr>
            <a:r>
              <a:t>--- ผลการวัดผลเชิงปริมาณ (Quantitative Metrics) ---</a:t>
            </a:r>
          </a:p>
          <a:p>
            <a:pPr>
              <a:defRPr sz="950" b="1">
                <a:solidFill>
                  <a:srgbClr val="276B47"/>
                </a:solidFill>
                <a:latin typeface="IBM Plex Sans Thai"/>
              </a:defRPr>
            </a:pPr>
            <a:r>
              <a:t>• % Abandon Call: เดิม 10.29% ➔ ผลทดลอง [ใส่ตัวเลข เช่น &lt; 3.5%]</a:t>
            </a:r>
          </a:p>
          <a:p>
            <a:pPr>
              <a:defRPr sz="950" b="1">
                <a:solidFill>
                  <a:srgbClr val="276B47"/>
                </a:solidFill>
                <a:latin typeface="IBM Plex Sans Thai"/>
              </a:defRPr>
            </a:pPr>
            <a:r>
              <a:t>• Speed of Answer: เดิม 46 วินาที ➔ ผลทดลอง [ใส่ตัวเลข เช่น 8 วินาที]</a:t>
            </a:r>
          </a:p>
          <a:p>
            <a:pPr>
              <a:defRPr sz="950">
                <a:latin typeface="IBM Plex Sans Thai"/>
              </a:defRPr>
            </a:pPr>
            <a:r>
              <a:t>• ปริมาณสายทดสอบ: [ระบุ เช่น 1,500 สาย] (รองรับพร้อมกันไม่จำกัด)</a:t>
            </a:r>
          </a:p>
          <a:p>
            <a:pPr>
              <a:defRPr sz="950">
                <a:latin typeface="IBM Plex Sans Thai"/>
              </a:defRPr>
            </a:pPr>
            <a:r>
              <a:t>• Task Completion Rate: [ระบุ เช่น 93.8% ปิดเคสได้เบ็ดเสร็จ]</a:t>
            </a:r>
          </a:p>
          <a:p>
            <a:pPr>
              <a:defRPr sz="950" b="1">
                <a:solidFill>
                  <a:srgbClr val="6B3FA0"/>
                </a:solidFill>
                <a:latin typeface="IBM Plex Sans Thai"/>
              </a:defRPr>
            </a:pPr>
            <a:r>
              <a:t>--- เสียงสะท้อนเชิงคุณภาพ (User Feedback) ---</a:t>
            </a:r>
          </a:p>
          <a:p>
            <a:pPr>
              <a:defRPr sz="950" i="1">
                <a:solidFill>
                  <a:srgbClr val="504664"/>
                </a:solidFill>
                <a:latin typeface="IBM Plex Sans Thai"/>
              </a:defRPr>
            </a:pPr>
            <a:r>
              <a:t>"[พิมพ์ใส่ความคิดเห็นจริง เช่น: เจ้าหน้าที่หน้างานลดความตึงเครียดช่วงฝนตกฟ้าคะนอง ระบบช่วยคัดกรองสายแจ้งเหตุซ้ำได้อย่างแม่นยำ ทำให้เจ้าหน้าที่มุ่งแก้ไขจุดวิกฤตได้รวดเร็วขึ้น]"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4160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5D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300" b="1">
                <a:solidFill>
                  <a:srgbClr val="1D5DA6"/>
                </a:solidFill>
                <a:latin typeface="Kanit"/>
              </a:defRPr>
            </a:pPr>
            <a:r>
              <a:t>🏢 หน่วยงานนำร่องที่ 2 (Web &amp; LINE / หน้าร้าน)</a:t>
            </a:r>
          </a:p>
          <a:p>
            <a:pPr>
              <a:defRPr sz="950">
                <a:latin typeface="IBM Plex Sans Thai"/>
              </a:defRPr>
            </a:pPr>
            <a:r>
              <a:t>ชื่อหน่วยงาน: [ระบุ เช่น การไฟฟ้าส่วนภูมิภาค สาขาเมืองเชียงใหม่ / กฟฟ.สาขา...]</a:t>
            </a:r>
          </a:p>
          <a:p>
            <a:pPr>
              <a:defRPr sz="950">
                <a:latin typeface="IBM Plex Sans Thai"/>
              </a:defRPr>
            </a:pPr>
            <a:r>
              <a:t>ขอบเขตงาน: [ระบุ เช่น ทดสอบระบบ Web Chat และ LINE OA สำหรับรับเรื่องร้องเรียน VOC และขอใช้ไฟฟ้า]</a:t>
            </a:r>
          </a:p>
          <a:p>
            <a:pPr>
              <a:defRPr sz="950" b="1">
                <a:solidFill>
                  <a:srgbClr val="1D5DA6"/>
                </a:solidFill>
                <a:latin typeface="IBM Plex Sans Thai"/>
              </a:defRPr>
            </a:pPr>
            <a:r>
              <a:t>--- ผลการวัดผลเชิงปริมาณ (Quantitative Metrics) ---</a:t>
            </a:r>
          </a:p>
          <a:p>
            <a:pPr>
              <a:defRPr sz="950" b="1">
                <a:solidFill>
                  <a:srgbClr val="276B47"/>
                </a:solidFill>
                <a:latin typeface="IBM Plex Sans Thai"/>
              </a:defRPr>
            </a:pPr>
            <a:r>
              <a:t>• ระยะเวลากรอกคำร้อง: เดิม 15-20 นาที ➔ ผลทดลอง [ใส่ตัวเลข เช่น 45 วินาที]</a:t>
            </a:r>
          </a:p>
          <a:p>
            <a:pPr>
              <a:defRPr sz="950" b="1">
                <a:solidFill>
                  <a:srgbClr val="276B47"/>
                </a:solidFill>
                <a:latin typeface="IBM Plex Sans Thai"/>
              </a:defRPr>
            </a:pPr>
            <a:r>
              <a:t>• ความถูกต้องข้อมูล (CA): เดิมต้องตรวจซ้ำ ➔ ผลทดลอง [ใส่ตัวเลข เช่น 100% ผ่าน]</a:t>
            </a:r>
          </a:p>
          <a:p>
            <a:pPr>
              <a:defRPr sz="950">
                <a:latin typeface="IBM Plex Sans Thai"/>
              </a:defRPr>
            </a:pPr>
            <a:r>
              <a:t>• ปริมาณเคสทดสอบ: [ระบุ เช่น 450 คำร้อง]</a:t>
            </a:r>
          </a:p>
          <a:p>
            <a:pPr>
              <a:defRPr sz="950">
                <a:latin typeface="IBM Plex Sans Thai"/>
              </a:defRPr>
            </a:pPr>
            <a:r>
              <a:t>• ความพึงพอใจลูกค้า (CSAT): [ระบุ เช่น 4.85 / 5.0 คะแนน]</a:t>
            </a:r>
          </a:p>
          <a:p>
            <a:pPr>
              <a:defRPr sz="950" b="1">
                <a:solidFill>
                  <a:srgbClr val="1D5DA6"/>
                </a:solidFill>
                <a:latin typeface="IBM Plex Sans Thai"/>
              </a:defRPr>
            </a:pPr>
            <a:r>
              <a:t>--- เสียงสะท้อนเชิงคุณภาพ (User Feedback) ---</a:t>
            </a:r>
          </a:p>
          <a:p>
            <a:pPr>
              <a:defRPr sz="950" i="1">
                <a:solidFill>
                  <a:srgbClr val="3C5064"/>
                </a:solidFill>
                <a:latin typeface="IBM Plex Sans Thai"/>
              </a:defRPr>
            </a:pPr>
            <a:r>
              <a:t>"[พิมพ์ใส่ความคิดเห็นจริง เช่น: ผู้ใช้ไฟประทับใจที่สามารถแนบพิกัดและรูปถ่ายผ่าน LINE ได้ทันที ระบบสร้าง Pending Action ให้ตรวจทานก่อนส่งเข้า VOC อัตโนมัติ ประหยัดเวลามาก]"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85216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050" b="1">
                <a:solidFill>
                  <a:srgbClr val="6B3FA0"/>
                </a:solidFill>
                <a:latin typeface="IBM Plex Sans Thai"/>
              </a:defRPr>
            </a:pPr>
            <a:r>
              <a:t>🚀 แผนขยายผลสู่ 12 เขต: Shadow Mode (2 สัปดาห์) ➔ Limited Live (4 สัปดาห์) ➔ Nationwide Rollout ครอบคลุม 21 ล้านราย | 📱 Demo: http://127.0.0.1:8000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6. ผลลัพธ์ การประเมิน &amp; แผนงาน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EAF5EE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6B47"/>
                </a:solidFill>
                <a:latin typeface="IBM Plex Sans Thai"/>
              </a:defRPr>
            </a:pPr>
            <a:r>
              <a:t>เกณฑ์ C (24 คะแนน): ความคุ้มค่าทางเศรษฐศาสตร์ (ROI)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39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Cost &amp; ROI: ประหยัดงบประมาณ ~16.4 ล้านบาท/ปี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คำนวณเปรียบเทียบต้นทุนแรงงานมนุษย์ vs Gemini Live Voice Agent อิงสถิติเดือน พ.ค. 2568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ต้นทุนบริการต่อสาย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ต้นทุนรายเดือน (219,564 สาย)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ผลประหยัดสุทธิต่อปี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แรงงานมนุษย์ (ปัจจุบัน)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9.20 บาท / สาย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Gemini Live Voice Agent</a:t>
            </a:r>
          </a:p>
          <a:p>
            <a:pPr>
              <a:defRPr sz="950">
                <a:solidFill>
                  <a:srgbClr val="212529"/>
                </a:solidFill>
                <a:latin typeface="IBM Plex Sans Thai"/>
              </a:defRPr>
            </a:pPr>
            <a:r>
              <a:t>• 3.01 บาท / สาย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📋 สมมติฐานการคำนวณอย่างรอบคอบและรัดกุม (Transparent Assumptions):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6. ผลลัพธ์ การประเมิน &amp; แผนงาน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EAF5EE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76B47"/>
                </a:solidFill>
                <a:latin typeface="IBM Plex Sans Thai"/>
              </a:defRPr>
            </a:pPr>
            <a:r>
              <a:t>เกณฑ์ C (24 คะแนน): ผลประโยชน์ต่อองค์กรและลูกค้า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40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Impact: ผลลัพธ์เชิงคุณภาพต่อ กฟภ. และผู้ใช้ไฟฟ้า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ยกระดับประสบการณ์การให้บริการในทุกมิติ นอกเหนือจากการประหยัดต้นทุน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6. ผลลัพธ์ การประเมิน &amp; แผนงาน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B3FA0"/>
                </a:solidFill>
                <a:latin typeface="IBM Plex Sans Thai"/>
              </a:defRPr>
            </a:pPr>
            <a:r>
              <a:t>เกณฑ์ B (10 คะแนน): ความคิดสร้างสรรค์และจุดเด่น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41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สิ่งที่ทำให้เราแตกต่างจากทีมอื่น (Engineering Edge)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5 นวัตกรรมทางวิศวกรรมที่ออกแบบมาเพื่อแก้ไขปัญหาเฉพาะของ กฟภ. อย่างแท้จริง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0233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4A2574"/>
                </a:solidFill>
                <a:latin typeface="Kanit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00584"/>
            <a:ext cx="1645920" cy="329184"/>
          </a:xfrm>
          <a:prstGeom prst="round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Kanit"/>
              </a:defRPr>
            </a:pPr>
            <a:r>
              <a:t>⚡ PEA ONE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0584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C757D"/>
                </a:solidFill>
                <a:latin typeface="IBM Plex Sans Thai"/>
              </a:defRPr>
            </a:pPr>
            <a:r>
              <a:t>หัวข้อ 3: Agentic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0584"/>
            <a:ext cx="3108960" cy="329184"/>
          </a:xfrm>
          <a:prstGeom prst="roundRect">
            <a:avLst/>
          </a:prstGeom>
          <a:solidFill>
            <a:srgbClr val="F8F6FC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A2574"/>
                </a:solidFill>
                <a:latin typeface="IBM Plex Sans Thai"/>
              </a:defRPr>
            </a:pPr>
            <a:r>
              <a:t>📍 6. ผลลัพธ์ การประเมิน &amp; แผนงาน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0584"/>
            <a:ext cx="2468880" cy="329184"/>
          </a:xfrm>
          <a:prstGeom prst="roundRect">
            <a:avLst/>
          </a:prstGeom>
          <a:solidFill>
            <a:srgbClr val="FEF4EB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B8631E"/>
                </a:solidFill>
                <a:latin typeface="IBM Plex Sans Thai"/>
              </a:defRPr>
            </a:pPr>
            <a:r>
              <a:t>เกณฑ์ A + C: แผนงานในอนาคต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00584"/>
            <a:ext cx="1097280" cy="329184"/>
          </a:xfrm>
          <a:prstGeom prst="roundRect">
            <a:avLst/>
          </a:prstGeom>
          <a:solidFill>
            <a:srgbClr val="F0F0F5"/>
          </a:solidFill>
          <a:ln w="63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C757D"/>
                </a:solidFill>
                <a:latin typeface="Consolas"/>
              </a:defRPr>
            </a:pPr>
            <a:r>
              <a:t>42 /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4A2574"/>
                </a:solidFill>
                <a:latin typeface="Kanit"/>
              </a:defRPr>
            </a:pPr>
            <a:r>
              <a:t>Roadmap: จาก MVP สู่ระบบหลักของการไฟฟ้าส่วนภูมิภาค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C757D"/>
                </a:solidFill>
                <a:latin typeface="IBM Plex Sans Thai"/>
              </a:defRPr>
            </a:pPr>
            <a:r>
              <a:t>แผนพัฒนา 3 ระยะเพื่อขับเคลื่อนสู่การใช้งานจริงทั่วประเทศอย่างยั่งยืน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0020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ระยะสั้น (1 - 3 เดือน)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ระยะกลาง (3 - 6 เดือน)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290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4A2574"/>
                </a:solidFill>
                <a:latin typeface="Kanit"/>
              </a:defRPr>
            </a:pPr>
            <a:r>
              <a:t>ระยะยาว (6 - 12 เดือน)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1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Kanit"/>
              </a:defRPr>
            </a:pPr>
            <a:r>
              <a:t>PEA One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A623"/>
                </a:solidFill>
                <a:latin typeface="IBM Plex Sans Thai"/>
              </a:defRPr>
            </a:pPr>
            <a:r>
              <a:t>พร้อมแล้วสำหรับการยกระดับงานบริการลูกค้า กฟภ. สู่มาตรฐาน Agentic AI ระดับโลก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291840"/>
            <a:ext cx="9445752" cy="2377440"/>
          </a:xfrm>
          <a:prstGeom prst="roundRect">
            <a:avLst/>
          </a:prstGeom>
          <a:solidFill>
            <a:srgbClr val="3C1C5F"/>
          </a:solidFill>
          <a:ln>
            <a:solidFill>
              <a:srgbClr val="78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400" b="1">
                <a:solidFill>
                  <a:srgbClr val="FFFFFF"/>
                </a:solidFill>
                <a:latin typeface="Kanit"/>
              </a:defRPr>
            </a:pPr>
            <a:r>
              <a:t>🎯 3 เสาหลักความสำเร็จที่เราพิสูจน์แล้วในการแข่งขันนี้:</a:t>
            </a:r>
          </a:p>
          <a:p>
            <a:pPr>
              <a:defRPr sz="1200">
                <a:solidFill>
                  <a:srgbClr val="E1D7F5"/>
                </a:solidFill>
                <a:latin typeface="IBM Plex Sans Thai"/>
              </a:defRPr>
            </a:pPr>
            <a:r>
              <a:t>1. ถูกต้องและปลอดภัยระดับโค้ด: Human-in-the-Loop State Machine + Full-Doc Grounding ปราศจาก Hallucination</a:t>
            </a:r>
          </a:p>
          <a:p>
            <a:pPr>
              <a:defRPr sz="1200">
                <a:solidFill>
                  <a:srgbClr val="E1D7F5"/>
                </a:solidFill>
                <a:latin typeface="IBM Plex Sans Thai"/>
              </a:defRPr>
            </a:pPr>
            <a:r>
              <a:t>2. ขยายระบบไร้ขีดจำกัด: Declarative Plugin Architecture เพิ่มระบบใหม่ใน 6 ขั้นตอนโดยไม่แตะสมองหลัก</a:t>
            </a:r>
          </a:p>
          <a:p>
            <a:pPr>
              <a:defRPr sz="1200">
                <a:solidFill>
                  <a:srgbClr val="E1D7F5"/>
                </a:solidFill>
                <a:latin typeface="IBM Plex Sans Thai"/>
              </a:defRPr>
            </a:pPr>
            <a:r>
              <a:t>3. ผลลัพธ์ทางธุรกิจจับต้องได้: ประหยัด ~16.4 ล้านบาท/ปี ยกระดับ SLA รับสายใน 10 วินาทีเป็น 95%+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Kanit"/>
              </a:defRPr>
            </a:pPr>
            <a:r>
              <a:t>ขอขอบพระคุณคณะกรรมการทุกท่าน — เปิดรับข้อซักถามและคำแนะนำ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